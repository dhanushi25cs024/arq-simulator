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966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C2461"/>
                </a:solidFill>
              </a:defRPr>
            </a:pPr>
            <a:r>
              <a:t>NETVISTA 3D: ARQ PROTOCOL EVALUATION</a:t>
            </a:r>
          </a:p>
          <a:p>
            <a:pPr algn="ctr">
              <a:defRPr sz="1500">
                <a:solidFill>
                  <a:srgbClr val="1E3799"/>
                </a:solidFill>
              </a:defRPr>
            </a:pPr>
            <a:r>
              <a:t>Comparative Investigation of Go-Back-N and Selective Repeat ARQ under Frame Losses</a:t>
            </a:r>
          </a:p>
          <a:p>
            <a:pPr algn="ctr">
              <a:defRPr sz="1100">
                <a:solidFill>
                  <a:srgbClr val="C8C8C8"/>
                </a:solidFill>
              </a:defRPr>
            </a:pPr>
            <a:r>
              <a:t>__________________________________________________________________</a:t>
            </a:r>
          </a:p>
          <a:p>
            <a:br/>
            <a:pPr algn="ctr">
              <a:defRPr sz="1300" b="1">
                <a:solidFill>
                  <a:srgbClr val="2F3640"/>
                </a:solidFill>
              </a:defRPr>
            </a:pPr>
            <a:r>
              <a:t>Student ID: 25CS024  |  Subject: ITUC201 Fundamentals of Computer Networks</a:t>
            </a:r>
          </a:p>
          <a:p>
            <a:pPr algn="ctr">
              <a:defRPr sz="1200">
                <a:solidFill>
                  <a:srgbClr val="2F3640"/>
                </a:solidFill>
              </a:defRPr>
            </a:pPr>
            <a:r>
              <a:t>Assigned Topic: Go-Back-N &amp; Selective Repeat under losses  |  Assessment: Individual (20 Marks)</a:t>
            </a:r>
          </a:p>
          <a:p>
            <a:pPr algn="ctr">
              <a:defRPr sz="1100">
                <a:solidFill>
                  <a:srgbClr val="718093"/>
                </a:solidFill>
              </a:defRPr>
            </a:pPr>
            <a:r>
              <a:t>Implementation: Python 3.12 Discrete-Event Engine (Priority Queue)  |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Project Objectives &amp; Core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BF0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799"/>
                </a:solidFill>
              </a:defRPr>
            </a:pPr>
            <a:r>
              <a:t>PRIMARY RESEARCH QUESTION</a:t>
            </a:r>
          </a:p>
          <a:p>
            <a:br/>
            <a:pPr>
              <a:defRPr sz="1800" b="1">
                <a:solidFill>
                  <a:srgbClr val="0C2461"/>
                </a:solidFill>
              </a:defRPr>
            </a:pPr>
            <a:r>
              <a:t>"How do retransmission counts change with window size and loss pattern?"</a:t>
            </a:r>
            <a:br/>
          </a:p>
          <a:p>
            <a:pPr>
              <a:defRPr sz="1150">
                <a:solidFill>
                  <a:srgbClr val="2F3640"/>
                </a:solidFill>
              </a:defRPr>
            </a:pPr>
            <a:r>
              <a:t>• Does Go-Back-N's discard policy severely penalize channel efficiency as window size expands?</a:t>
            </a:r>
            <a:br/>
            <a:br/>
            <a:r>
              <a:t>• Can Selective Repeat's out-of-order buffering maintain constant retransmission overhead?</a:t>
            </a:r>
            <a:br/>
            <a:br/>
            <a:r>
              <a:t>• What happens when multiple frames (4 and 7) are lost in close proximity?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TECHNICAL DELIVERABLES &amp; GOALS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1. Event-Driven Simulator (Python 3):</a:t>
            </a:r>
            <a:br/>
            <a:r>
              <a:t>   - Pure priority queue (heapq) discrete-event architecture.</a:t>
            </a:r>
            <a:br/>
            <a:r>
              <a:t>   - Zero arbitrary loops or polling; explicit simulation timestamps.</a:t>
            </a:r>
            <a:br/>
            <a:br/>
            <a:r>
              <a:t>2. Controlled Experimental Framework:</a:t>
            </a:r>
            <a:br/>
            <a:r>
              <a:t>   - Window sizes W = 3 vs W = 5.</a:t>
            </a:r>
            <a:br/>
            <a:r>
              <a:t>   - Deterministic loss at frames 4 and 7 (first attempt only).</a:t>
            </a:r>
            <a:br/>
            <a:r>
              <a:t>   - Identical transmission and propagation latencies.</a:t>
            </a:r>
            <a:br/>
            <a:br/>
            <a:r>
              <a:t>3. Verification &amp; Visualizations:</a:t>
            </a:r>
            <a:br/>
            <a:r>
              <a:t>   - Space-time ladder diagrams for every experiment.</a:t>
            </a:r>
            <a:br/>
            <a:r>
              <a:t>   - Automated CSV metrics, comparative graphs, and Streamlit dashboard.</a:t>
            </a:r>
            <a:br/>
            <a:br/>
            <a:r>
              <a:t>4. University Syllabus Grounding:</a:t>
            </a:r>
            <a:br/>
            <a:r>
              <a:t>   - Solved ITUC201 examination numerical on link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Reliable Data Transmission &amp; Sliding Window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F5F6FA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C2461"/>
                </a:solidFill>
              </a:defRPr>
            </a:pPr>
            <a:r>
              <a:t>1. Stop-and-Wait ARQ</a:t>
            </a:r>
          </a:p>
          <a:p>
            <a:br/>
            <a:pPr>
              <a:defRPr sz="1050">
                <a:solidFill>
                  <a:srgbClr val="2F3640"/>
                </a:solidFill>
              </a:defRPr>
            </a:pPr>
            <a:r>
              <a:t>• Efficiency: η = 1 / (1 + 2a), where a = Tp / Tt.</a:t>
            </a:r>
            <a:br/>
            <a:br/>
            <a:r>
              <a:t>• Transmitter waits for ACK after every single frame.</a:t>
            </a:r>
            <a:br/>
            <a:br/>
            <a:r>
              <a:t>• If propagation delay (Tp) is high, link remains idle &gt; 90% of the time.</a:t>
            </a:r>
            <a:br/>
            <a:br/>
            <a:r>
              <a:t>• Unacceptable for modern high-bandwidth high-latency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EBF0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C2461"/>
                </a:solidFill>
              </a:defRPr>
            </a:pPr>
            <a:r>
              <a:t>2. Pipelining &amp; Sliding Window</a:t>
            </a:r>
          </a:p>
          <a:p>
            <a:br/>
            <a:pPr>
              <a:defRPr sz="1050">
                <a:solidFill>
                  <a:srgbClr val="2F3640"/>
                </a:solidFill>
              </a:defRPr>
            </a:pPr>
            <a:r>
              <a:t>• Allows up to W frames to be in flight simultaneously.</a:t>
            </a:r>
            <a:br/>
            <a:br/>
            <a:r>
              <a:t>• Link Saturation Condition: W ≥ 1 + 2a.</a:t>
            </a:r>
            <a:br/>
            <a:br/>
            <a:r>
              <a:t>• Achieves up to 100% link utilization under zero errors.</a:t>
            </a:r>
            <a:br/>
            <a:br/>
            <a:r>
              <a:t>• Requires sequence number management and recovery policies under frame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F5F6FA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C2461"/>
                </a:solidFill>
              </a:defRPr>
            </a:pPr>
            <a:r>
              <a:t>3. Loss Recovery Protocols</a:t>
            </a:r>
          </a:p>
          <a:p>
            <a:br/>
            <a:pPr>
              <a:defRPr sz="1050">
                <a:solidFill>
                  <a:srgbClr val="2F3640"/>
                </a:solidFill>
              </a:defRPr>
            </a:pPr>
            <a:r>
              <a:t>• Go-Back-N (GBN):</a:t>
            </a:r>
            <a:br/>
            <a:r>
              <a:t>  - Receiver window Wr = 1.</a:t>
            </a:r>
            <a:br/>
            <a:r>
              <a:t>  - Discards out-of-order frames.</a:t>
            </a:r>
            <a:br/>
            <a:r>
              <a:t>  - Retransmits all in-flight frames.</a:t>
            </a:r>
            <a:br/>
            <a:br/>
            <a:r>
              <a:t>• Selective Repeat (SR):</a:t>
            </a:r>
            <a:br/>
            <a:r>
              <a:t>  - Receiver window Wr = Ws.</a:t>
            </a:r>
            <a:br/>
            <a:r>
              <a:t>  - Buffers out-of-order frames.</a:t>
            </a:r>
            <a:br/>
            <a:r>
              <a:t>  - Retransmits solely the lost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Go-Back-N (GBN) Protocol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SENDER BEHAVIOR (GBN)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Sender Window:</a:t>
            </a:r>
            <a:br/>
            <a:r>
              <a:t>  - Window size Ws. Window range: [send_base, send_base + Ws - 1].</a:t>
            </a:r>
            <a:br/>
            <a:r>
              <a:t>  - next_seq_num points to next unsent frame.</a:t>
            </a:r>
            <a:br/>
            <a:br/>
            <a:r>
              <a:t>• Single Logical Timer:</a:t>
            </a:r>
            <a:br/>
            <a:r>
              <a:t>  - Timer is set for the oldest unacknowledged frame (send_base).</a:t>
            </a:r>
            <a:br/>
            <a:r>
              <a:t>  - Timer restarts whenever an ACK advances send_base.</a:t>
            </a:r>
            <a:br/>
            <a:r>
              <a:t>  - Timer stops only when all sent frames are acknowledged.</a:t>
            </a:r>
            <a:br/>
            <a:br/>
            <a:r>
              <a:t>• Retransmission on Timeout:</a:t>
            </a:r>
            <a:br/>
            <a:r>
              <a:t>  - If timeout fires for send_base, sender 'Goes Back N'.</a:t>
            </a:r>
            <a:br/>
            <a:r>
              <a:t>  - Retransmits ALL outstanding frames currently in flight:</a:t>
            </a:r>
            <a:br/>
            <a:r>
              <a:t>    from send_base up to next_seq_num - 1.</a:t>
            </a:r>
            <a:br/>
            <a:r>
              <a:t>  - Undamaged frames already sent are wastefully retransmitted!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RECEIVER BEHAVIOR (GBN)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Receiver Window Size Wr = 1:</a:t>
            </a:r>
            <a:br/>
            <a:r>
              <a:t>  - Receiver only accepts the exact expected frame: rcv_base.</a:t>
            </a:r>
            <a:br/>
            <a:r>
              <a:t>  - Has ZERO buffer capacity for out-of-order packets.</a:t>
            </a:r>
            <a:br/>
            <a:br/>
            <a:r>
              <a:t>• In-Order Frame Receipt:</a:t>
            </a:r>
            <a:br/>
            <a:r>
              <a:t>  - Accepts frame, passes it to Application Layer.</a:t>
            </a:r>
            <a:br/>
            <a:r>
              <a:t>  - Advances rcv_base = rcv_base + 1.</a:t>
            </a:r>
            <a:br/>
            <a:r>
              <a:t>  - Sends Cumulative ACK(rcv_base - 1).</a:t>
            </a:r>
            <a:br/>
            <a:br/>
            <a:r>
              <a:t>• Out-of-Order Frame Receipt:</a:t>
            </a:r>
            <a:br/>
            <a:r>
              <a:t>  - If frame sequence number ≠ rcv_base, frame is DISCARDED.</a:t>
            </a:r>
            <a:br/>
            <a:r>
              <a:t>  - Re-transmits duplicate cumulative ACK for the last in-order frame.</a:t>
            </a:r>
            <a:br/>
            <a:br/>
            <a:r>
              <a:t>• Sequence Number Requirement:</a:t>
            </a:r>
            <a:br/>
            <a:r>
              <a:t>  - Minimum sequence numbers: Ws ≤ 2^m - 1 (m bits required).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Selective Repeat (SR) Protocol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SENDER BEHAVIOR (SR)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Window Size Ws:</a:t>
            </a:r>
            <a:br/>
            <a:r>
              <a:t>  - Permits up to Ws frames in flight.</a:t>
            </a:r>
            <a:br/>
            <a:br/>
            <a:r>
              <a:t>• Per-Frame Independent Timers:</a:t>
            </a:r>
            <a:br/>
            <a:r>
              <a:t>  - Every transmitted frame has its OWN dedicated timer.</a:t>
            </a:r>
            <a:br/>
            <a:r>
              <a:t>  - When ACK(k) arrives, timer for frame k is cancelled.</a:t>
            </a:r>
            <a:br/>
            <a:br/>
            <a:r>
              <a:t>• Selective Retransmission:</a:t>
            </a:r>
            <a:br/>
            <a:r>
              <a:t>  - When timer for frame k expires, ONLY frame k is retransmitted.</a:t>
            </a:r>
            <a:br/>
            <a:r>
              <a:t>  - Unaffected frames in flight or buffered are NOT retransmitted.</a:t>
            </a:r>
            <a:br/>
            <a:br/>
            <a:r>
              <a:t>• Window Advancement:</a:t>
            </a:r>
            <a:br/>
            <a:r>
              <a:t>  - Window base advances forward ONLY when the oldest frame at send_base is acknowledged.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RECEIVER BEHAVIOR (SR)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Receiver Window Size Wr = Ws:</a:t>
            </a:r>
            <a:br/>
            <a:r>
              <a:t>  - Can receive out-of-order packets within [rcv_base, rcv_base + Wr - 1].</a:t>
            </a:r>
            <a:br/>
            <a:br/>
            <a:r>
              <a:t>• Receiver Buffering:</a:t>
            </a:r>
            <a:br/>
            <a:r>
              <a:t>  - Accepts out-of-order frames and stores them in buffer memory.</a:t>
            </a:r>
            <a:br/>
            <a:r>
              <a:t>  - Returns an Individual / Selective ACK(k) acknowledging solely frame k.</a:t>
            </a:r>
            <a:br/>
            <a:br/>
            <a:r>
              <a:t>• In-Order Application Delivery:</a:t>
            </a:r>
            <a:br/>
            <a:r>
              <a:t>  - When missing frame rcv_base arrives, receiver delivers contiguous buffered frames to application.</a:t>
            </a:r>
            <a:br/>
            <a:r>
              <a:t>  - Window base rcv_base slides past all delivered frames.</a:t>
            </a:r>
            <a:br/>
            <a:br/>
            <a:r>
              <a:t>• Window Constraint (Crucial Rule):</a:t>
            </a:r>
            <a:br/>
            <a:r>
              <a:t>  - Ws + Wr ≤ 2^m  ⟹  Ws ≤ 2^(m - 1) (Half of sequence number space).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Protocol Architectural Matrix: GBN vs Selective Repeat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Protocol Feature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Go-Back-N (GBN)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Selective Repeat (SR)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Receiver Window (Wr)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 (Strict in-order)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Equal to Ws (Out-of-order permitted)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Receiver Buffering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None (Discards out-of-order frames)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Buffers all valid frames within window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Acknowledgment Scheme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Cumulative (ACK n confirms ≤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Individual / Selective (ACK n confirms only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Timer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Single timer for oldest unACKed frame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Dedicated independent timer per frame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Retransmission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Retransmits all outstanding in-flight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Retransmits only the specific lost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Bandwidth Efficiency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Lower under loss (wasteful retransmissions)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High (strictly minimal retransmissions)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Sequence Sizing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Ws ≤ 2^m 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Ws + Wr ≤ 2^m ⟹ Ws ≤ 2^(m - 1)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Event-Driven Discrete-Event Simulator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EVENT-DRIVEN ENGINE (heapq)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Priority Queue Scheduling:</a:t>
            </a:r>
            <a:br/>
            <a:r>
              <a:t>  - Uses Python's heapq priority queue.</a:t>
            </a:r>
            <a:br/>
            <a:r>
              <a:t>  - Simulation clock jumps directly to earliest scheduled event.</a:t>
            </a:r>
            <a:br/>
            <a:r>
              <a:t>  - Eliminates polling loops, sleep delays, and race conditions.</a:t>
            </a:r>
            <a:br/>
            <a:br/>
            <a:r>
              <a:t>• Event Structure:</a:t>
            </a:r>
            <a:br/>
            <a:r>
              <a:t>  - (time, event_id, event_type, frame_id, payload)</a:t>
            </a:r>
            <a:br/>
            <a:r>
              <a:t>  - event_id acts as strict tie-breaker for simultaneous events.</a:t>
            </a:r>
            <a:br/>
            <a:br/>
            <a:r>
              <a:t>• State Machine Integrity:</a:t>
            </a:r>
            <a:br/>
            <a:r>
              <a:t>  - Full tracking of in-flight frames, ACK status, buffer slots.</a:t>
            </a:r>
            <a:br/>
            <a:r>
              <a:t>  - Sequence validation ensures obsolete timer events are safely ignored.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SIMULATION EVENT LIFECYCLE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1. FRAME_TX:</a:t>
            </a:r>
            <a:br/>
            <a:r>
              <a:t>   - Pushes frame onto channel; schedules FRAME_ARRIVAL.</a:t>
            </a:r>
            <a:br/>
            <a:r>
              <a:t>   - If Attempt 1 and frame in {4, 7}, injects loss (no arrival scheduled).</a:t>
            </a:r>
            <a:br/>
            <a:br/>
            <a:r>
              <a:t>2. FRAME_ARRIVAL:</a:t>
            </a:r>
            <a:br/>
            <a:r>
              <a:t>   - GBN: Check if in-order; accept or discard; schedule ACK.</a:t>
            </a:r>
            <a:br/>
            <a:r>
              <a:t>   - SR: Buffer frame; schedule individual ACK; slide rcv_base.</a:t>
            </a:r>
            <a:br/>
            <a:br/>
            <a:r>
              <a:t>3. ACK_ARRIVAL:</a:t>
            </a:r>
            <a:br/>
            <a:r>
              <a:t>   - Slide send_base forward; manage timers; send new frames.</a:t>
            </a:r>
            <a:br/>
            <a:br/>
            <a:r>
              <a:t>4. TIMEOUT:</a:t>
            </a:r>
            <a:br/>
            <a:r>
              <a:t>   - GBN: Go-Back-N (retransmit all in-flight frames).</a:t>
            </a:r>
            <a:br/>
            <a:r>
              <a:t>   - SR: Selective Retransmission (retransmit single frame).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Experimental Setup &amp; Controlled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5790895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Configured Value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Simulation Significance &amp; Notes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Total Unique Data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10 Frames (0 to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Default assessment payload size; verifies ordered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Frame Transmission Time (Tt)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1.0 Time Unit (TU)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Time required by transmitter to place full frame onto the wire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Propagation Delay (Tp)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1.5 Time Units (TU)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One-way signal transit delay across the physical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ACK Transmission Delay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0.2 TU (Tx) + 1.5 TU (Prop)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Round-Trip Time RTT ≈ 1.0 + 1.5 + 0.2 + 1.5 = 4.2 TU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Retransmission Timeout (RTO)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6.0 Time Units (TU)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Configured above RTT (4.2 TU) to prevent spurious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Deterministic Loss Injection at Frames 4 and 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meline_GBN_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474720" cy="4424689"/>
          </a:xfrm>
          <a:prstGeom prst="rect">
            <a:avLst/>
          </a:prstGeom>
        </p:spPr>
      </p:pic>
      <p:pic>
        <p:nvPicPr>
          <p:cNvPr id="7" name="Picture 6" descr="timeline_SR_W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474720" cy="44246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EBF0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C2461"/>
                </a:solidFill>
              </a:defRPr>
            </a:pPr>
            <a:r>
              <a:t>LOSS TRACE ANALYSIS</a:t>
            </a:r>
          </a:p>
          <a:p>
            <a:br/>
            <a:pPr>
              <a:defRPr sz="1050">
                <a:solidFill>
                  <a:srgbClr val="2F3640"/>
                </a:solidFill>
              </a:defRPr>
            </a:pPr>
            <a:r>
              <a:t>• Frame 4 First Attempt:</a:t>
            </a:r>
            <a:br/>
            <a:r>
              <a:t>  - Dropped by channel (Red X).</a:t>
            </a:r>
            <a:br/>
            <a:r>
              <a:t>  - GBN: Receiver discards 5, 6; sends DupACKs.</a:t>
            </a:r>
            <a:br/>
            <a:r>
              <a:t>  - SR: Receiver buffers 5, 6; sends selective ACKs.</a:t>
            </a:r>
            <a:br/>
            <a:br/>
            <a:r>
              <a:t>• Frame 7 First Attempt:</a:t>
            </a:r>
            <a:br/>
            <a:r>
              <a:t>  - Dropped by channel (Red X).</a:t>
            </a:r>
            <a:br/>
            <a:r>
              <a:t>  - In GBN W=3: Separate timeout occurs.</a:t>
            </a:r>
            <a:br/>
            <a:r>
              <a:t>  - In GBN W=5: Repaired in the same retransmission window!</a:t>
            </a:r>
            <a:br/>
            <a:br/>
            <a:r>
              <a:t>• Retransmission Rule:</a:t>
            </a:r>
            <a:br/>
            <a:r>
              <a:t>  - Attempt 2 always delivered successfully.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Experimental Results: Window Size W =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Go-Back-N (W=3)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Selective Repeat (W=3)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Difference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6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saves 4 data-frame retransmissions (-66.7%)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Total Transmissions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16 frames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12 frames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consumes 25% less link bandwidth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Timeout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Equal timeouts (Loss of 4, Loss of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Completion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36.8 TU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27.4 TU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is 25.5% faster in total transfer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C2461"/>
                </a:solidFill>
              </a:defRPr>
            </a:pPr>
            <a:r>
              <a:t>ANALYSIS FOR WINDOW SIZE 3</a:t>
            </a:r>
          </a:p>
          <a:p>
            <a:pPr>
              <a:defRPr sz="1100">
                <a:solidFill>
                  <a:srgbClr val="2F3640"/>
                </a:solidFill>
              </a:defRPr>
            </a:pPr>
            <a:r>
              <a:t>• In GBN (W=3), frames 4, 5, 6 were sent in window 1. Loss of 4 caused frames 5 and 6 to be discarded at the receiver. Upon timeout at t=13.5 TU, GBN retransmitted all 3 frames [4, 5, 6]. Later, frame 7 was lost; timeout triggered retransmission of frames [7, 8, 9]. Total = 3 + 3 = 6 retransmissions.</a:t>
            </a:r>
            <a:br/>
            <a:r>
              <a:t>• In SR (W=3), frames 5 and 6 were buffered. Only frame 4 was retransmitted upon timeout. Later, only frame 7 was retransmitted. Total retransmissions = 1 + 1 = 2 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Experimental Results: Window Size W =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Go-Back-N (W=5)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Selective Repeat (W=5)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Difference</a:t>
                      </a:r>
                    </a:p>
                  </a:txBody>
                  <a:tcPr>
                    <a:solidFill>
                      <a:srgbClr val="0C24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Retransmissions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5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saves 3 data-frame retransmissions (-60.0%)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Total Transmissions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15 frames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12 frames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consumes 20% less link bandwidth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Timeout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GBN experienced only 1 timeout (repaired both!)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Completion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23.4 TU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19.0 TU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F3640"/>
                          </a:solidFill>
                        </a:defRPr>
                      </a:pPr>
                      <a:r>
                        <a:t>SR is 18.8% faster; both much faster than W=3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KEY DISCOVERY: THE WINDOW CONSOLIDATION EFFECT IN GBN (W=5)</a:t>
            </a:r>
          </a:p>
          <a:p>
            <a:pPr>
              <a:defRPr sz="1100">
                <a:solidFill>
                  <a:srgbClr val="2F3640"/>
                </a:solidFill>
              </a:defRPr>
            </a:pPr>
            <a:r>
              <a:t>• At W = 5, frames 4, 5, 6, 7, 8 were all transmitted in one continuous pipeline burst.</a:t>
            </a:r>
            <a:br/>
            <a:r>
              <a:t>• Frame 4 was dropped, and Frame 7 was also dropped on its first attempt during this burst.</a:t>
            </a:r>
            <a:br/>
            <a:r>
              <a:t>• When timeout expired on Frame 4, GBN retransmitted the entire window: [4, 5, 6, 7, 8] (5 frames).</a:t>
            </a:r>
            <a:br/>
            <a:r>
              <a:t>• Because Frame 7 was retransmitted in this burst (Attempt 2), it arrived safely! This repaired Frame 7 simultaneously without ever triggering a second timeout. Thus, GBN experienced only 1 timeout and 5 retransmissions!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Visual Comparison &amp; Scientific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ison_retrans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257550"/>
          </a:xfrm>
          <a:prstGeom prst="rect">
            <a:avLst/>
          </a:prstGeom>
        </p:spPr>
      </p:pic>
      <p:pic>
        <p:nvPicPr>
          <p:cNvPr id="7" name="Picture 6" descr="window_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EBF0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C2461"/>
                </a:solidFill>
              </a:defRPr>
            </a:pPr>
            <a:r>
              <a:t>RESEARCH QUESTION FINDING SUMMARY</a:t>
            </a:r>
          </a:p>
          <a:p>
            <a:pPr>
              <a:defRPr sz="1050">
                <a:solidFill>
                  <a:srgbClr val="2F3640"/>
                </a:solidFill>
              </a:defRPr>
            </a:pPr>
            <a:r>
              <a:t>1. Selective Repeat is strictly invariant to window size: 2 retransmissions across both W=3 and W=5.</a:t>
            </a:r>
            <a:br/>
            <a:r>
              <a:t>2. Pipelining benefits both protocols: W=5 reduced completion time by 36.4% in GBN and 30.7% in SR.</a:t>
            </a:r>
            <a:br/>
            <a:r>
              <a:t>3. Receiver buffering is the decisive differentiator in bandwidth preservation under packet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Solved University Examination Numerical (ITUC201 Standard)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PROBLEM STATEMENT &amp; STEP-BY-STEP SOLUTION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Problem: 100 km terrestrial link, 10 Mbps bandwidth, propagation velocity v = 2 × 10^8 m/s, Frame size = 1000 bytes (8000 bits).</a:t>
            </a:r>
            <a:br/>
            <a:br/>
            <a:r>
              <a:t>1. Latency Calculations:</a:t>
            </a:r>
            <a:br/>
            <a:r>
              <a:t>   - Transmission Delay:  Tt = 8000 bits / (10 × 10^6 bps) = 0.8 ms</a:t>
            </a:r>
            <a:br/>
            <a:r>
              <a:t>   - Propagation Delay:   Tp = 100 × 10^3 m / (2 × 10^8 m/s) = 0.5 ms</a:t>
            </a:r>
            <a:br/>
            <a:r>
              <a:t>   - Link Parameter a:    a = Tp / Tt = 0.5 ms / 0.8 ms = 0.625</a:t>
            </a:r>
            <a:br/>
            <a:br/>
            <a:r>
              <a:t>2. Stop-and-Wait ARQ Efficiency:</a:t>
            </a:r>
            <a:br/>
            <a:r>
              <a:t>   - η = 1 / (1 + 2a) = 1 / (1 + 2(0.625)) = 1 / 2.25 = 44.44%</a:t>
            </a:r>
            <a:br/>
            <a:r>
              <a:t>   - Achievable Throughput = 0.4444 × 10 Mbps = 4.44 Mbps</a:t>
            </a:r>
            <a:br/>
            <a:br/>
            <a:r>
              <a:t>3. Optimal Sliding Window Size for 100% Saturation:</a:t>
            </a:r>
            <a:br/>
            <a:r>
              <a:t>   - W_opt ≥ 1 + 2a = 1 + 1.25 = 2.25  ⟹  W_opt = ⌈2.25⌉ = 3 frames</a:t>
            </a:r>
            <a:br/>
            <a:br/>
            <a:r>
              <a:t>4. Minimum Sequence Number Bits (m):</a:t>
            </a:r>
            <a:br/>
            <a:r>
              <a:t>   - Go-Back-N:       Ws ≤ 2^m - 1  ⟹  3 ≤ 2^m - 1  ⟹  2^m ≥ 4  ⟹  m ≥ 2 bits</a:t>
            </a:r>
            <a:br/>
            <a:r>
              <a:t>   - Selective Repeat: 2 Ws ≤ 2^m    ⟹  6 ≤ 2^m      ⟹  2^m ≥ 6  ⟹  m ≥ 3 bits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7E22"/>
                </a:solidFill>
              </a:defRPr>
            </a:pPr>
            <a:r>
              <a:t>ITUC201: FUNDAMENTALS OF COMPUTER NETWORKS | STUDENT ID: 25CS024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2461"/>
                </a:solidFill>
              </a:defRPr>
            </a:pPr>
            <a:r>
              <a:t>Conclusion, References &amp; Execution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RESEARCH CONCLUSIONS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Selective Repeat Superiority under Loss:</a:t>
            </a:r>
            <a:br/>
            <a:r>
              <a:t>  Confining retransmission strictly to damaged frames minimizes channel contention and retransmission counts.</a:t>
            </a:r>
            <a:br/>
            <a:br/>
            <a:r>
              <a:t>• Window Sizing Trade-offs:</a:t>
            </a:r>
            <a:br/>
            <a:r>
              <a:t>  Larger windows improve throughput via pipelining, reducing total completion time across all configurations.</a:t>
            </a:r>
            <a:br/>
            <a:br/>
            <a:r>
              <a:t>• Implementation Complexity:</a:t>
            </a:r>
            <a:br/>
            <a:r>
              <a:t>  SR requires complex receiver sorting and per-frame timer management, whereas GBN achieves simpler operation at the cost of bandwidth.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2461"/>
                </a:solidFill>
              </a:defRPr>
            </a:pPr>
            <a:r>
              <a:t>EXECUTION COMMANDS &amp; REFERENCES</a:t>
            </a:r>
          </a:p>
          <a:p>
            <a:br/>
            <a:pPr>
              <a:defRPr sz="1100">
                <a:solidFill>
                  <a:srgbClr val="2F3640"/>
                </a:solidFill>
              </a:defRPr>
            </a:pPr>
            <a:r>
              <a:t>• Run Core Simulator (CLI):</a:t>
            </a:r>
            <a:br/>
            <a:r>
              <a:t>  python arq_simulator.py</a:t>
            </a:r>
            <a:br/>
            <a:br/>
            <a:r>
              <a:t>• Run Interactive Dashboard:</a:t>
            </a:r>
            <a:br/>
            <a:r>
              <a:t>  python -m streamlit run app.py</a:t>
            </a:r>
            <a:br/>
            <a:br/>
            <a:r>
              <a:t>• Key Academic References:</a:t>
            </a:r>
            <a:br/>
            <a:r>
              <a:t>  1. Kurose &amp; Ross, Computer Networking: A Top-Down Approach (8th ed., Pearson).</a:t>
            </a:r>
            <a:br/>
            <a:r>
              <a:t>  2. Behrouz A. Forouzan, Data Communications and Networking (5th ed., McGraw-Hill).</a:t>
            </a:r>
            <a:br/>
            <a:r>
              <a:t>  3. Tanenbaum &amp; Wetherall, Computer Networks (5th ed., Pearson).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